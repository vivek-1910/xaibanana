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5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 strictFirstAndLastChars="0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type="screen16x9" cy="6858000" cx="12192000"/>
  <p:notesSz cx="12192000" cy="6858000"/>
  <p:defaultText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4995" autoAdjust="0"/>
    <p:restoredTop sz="90748" autoAdjust="0"/>
  </p:normalViewPr>
  <p:slideViewPr>
    <p:cSldViewPr snapToGrid="0">
      <p:cViewPr varScale="1">
        <p:scale>
          <a:sx n="57" d="100"/>
          <a:sy n="57" d="100"/>
        </p:scale>
        <p:origin x="188" y="3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tableStyles" Target="tableStyle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36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640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641" name="Google Shape;5;n"/>
          <p:cNvSpPr>
            <a:spLocks noChangeAspect="1" noRot="1" noGrp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642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lstStyle>
            <a:lvl1pPr algn="l" indent="-228600" lvl="0" marL="457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228600" lvl="1" marL="914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228600" lvl="2" marL="13716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228600" lvl="3" marL="18288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228600" lvl="4" marL="22860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228600" lvl="5" marL="2743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228600" lvl="6" marL="3200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228600" lvl="7" marL="36576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228600" lvl="8" marL="41148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64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2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644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/>
          <a:noFill/>
          <a:ln>
            <a:noFill/>
          </a:ln>
        </p:spPr>
        <p:txBody>
          <a:bodyPr anchor="b" anchorCtr="0" bIns="45700" lIns="91425" rIns="91425" spcFirstLastPara="1" tIns="45700" wrap="square">
            <a:noAutofit/>
          </a:bodyPr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cap="none" sz="1200" i="0" lang="en-US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cap="none" sz="1200" i="0" strike="noStrike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notesStyle>
    <a:defPPr algn="l" lvl="0" marR="0" rtl="0">
      <a:lnSpc>
        <a:spcPct val="100000"/>
      </a:lnSpc>
      <a:spcBef>
        <a:spcPts val="0"/>
      </a:spcBef>
      <a:spcAft>
        <a:spcPts val="0"/>
      </a:spcAft>
    </a:defPPr>
    <a:lvl1pPr algn="l" lvl="0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1pPr>
    <a:lvl2pPr algn="l" lvl="1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2pPr>
    <a:lvl3pPr algn="l" lvl="2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3pPr>
    <a:lvl4pPr algn="l" lvl="3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4pPr>
    <a:lvl5pPr algn="l" lvl="4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5pPr>
    <a:lvl6pPr algn="l" lvl="5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6pPr>
    <a:lvl7pPr algn="l" lvl="6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7pPr>
    <a:lvl8pPr algn="l" lvl="7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8pPr>
    <a:lvl9pPr algn="l" lvl="8" marR="0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cap="none" sz="1400" i="0" strike="noStrike" u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4A430E17-7F9D-4367-A68D-CE79035114D9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0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IN"/>
          </a:p>
        </p:txBody>
      </p:sp>
      <p:sp>
        <p:nvSpPr>
          <p:cNvPr id="1048616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cap="none" sz="1200" i="0" lang="en-US" strike="noStrike" u="none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b="0" cap="none" sz="1200" i="0" lang="en-US" strike="noStrike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Google Shape;48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</a:p>
        </p:txBody>
      </p:sp>
      <p:sp>
        <p:nvSpPr>
          <p:cNvPr id="1048633" name="Google Shape;490;p41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4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Google Shape;16;p43"/>
          <p:cNvSpPr txBox="1">
            <a:spLocks noGrp="1"/>
          </p:cNvSpPr>
          <p:nvPr>
            <p:ph type="title"/>
          </p:nvPr>
        </p:nvSpPr>
        <p:spPr>
          <a:xfrm>
            <a:off x="471835" y="136265"/>
            <a:ext cx="4447540" cy="101536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 i="0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2" name="Google Shape;17;p4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indent="-2286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indent="-2286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indent="-2286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indent="-2286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indent="-2286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indent="-2286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indent="-2286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indent="-2286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3" name="Google Shape;18;p4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4" name="Google Shape;19;p4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585" name="Google Shape;20;p4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35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Google Shape;27;p45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400" i="0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35" name="Google Shape;28;p45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36" name="Google Shape;29;p45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ctr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37" name="Google Shape;30;p45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algn="l"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38" name="Google Shape;31;p45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r" indent="0" lvl="0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bg>
      <p:bgPr>
        <a:solidFill>
          <a:srgbClr val="000000"/>
        </a:solidFill>
        <a:effectLst/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/>
        </p:spPr>
      </p:pic>
      <p:sp>
        <p:nvSpPr>
          <p:cNvPr id="1048601" name="Shape 0"/>
          <p:cNvSpPr/>
          <p:nvPr/>
        </p:nvSpPr>
        <p:spPr>
          <a:xfrm>
            <a:off x="0" y="0"/>
            <a:ext cx="12192000" cy="6858000"/>
          </a:xfrm>
          <a:prstGeom prst="rect"/>
          <a:solidFill>
            <a:srgbClr val="FFFFFF"/>
          </a:solidFill>
        </p:spPr>
      </p:sp>
      <p:pic>
        <p:nvPicPr>
          <p:cNvPr id="2097157" name="Image 1" descr="preencoded.png">
            <a:hlinkClick r:id="rId2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0699346" y="6457950"/>
            <a:ext cx="1435504" cy="342900"/>
          </a:xfrm>
          <a:prstGeom prst="rect"/>
        </p:spPr>
      </p:pic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0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2"/>
          <p:cNvSpPr txBox="1">
            <a:spLocks noGrp="1"/>
          </p:cNvSpPr>
          <p:nvPr>
            <p:ph type="title"/>
          </p:nvPr>
        </p:nvSpPr>
        <p:spPr>
          <a:xfrm>
            <a:off x="471835" y="136265"/>
            <a:ext cx="4447540" cy="1015365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cap="none" sz="2400" i="0" strike="noStrike" u="none">
                <a:solidFill>
                  <a:srgbClr val="2E539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577" name="Google Shape;11;p42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indent="-228600" lvl="0" marL="457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algn="l" indent="-228600" lvl="1" marL="914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algn="l" indent="-228600" lvl="2" marL="13716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algn="l" indent="-228600" lvl="3" marL="18288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algn="l" indent="-228600" lvl="4" marL="22860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algn="l" indent="-228600" lvl="5" marL="27432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algn="l" indent="-228600" lvl="6" marL="32004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algn="l" indent="-228600" lvl="7" marL="36576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algn="l" indent="-228600" lvl="8" marL="411480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8578" name="Google Shape;12;p4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ctr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579" name="Google Shape;13;p4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l" lv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l" lvl="1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l" lvl="2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l" lvl="3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l" lvl="4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l" lvl="5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l" lvl="6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l" lvl="7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l" lvl="8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cap="none" sz="1800" i="0" strike="noStrike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8580" name="Google Shape;14;p4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lstStyle>
            <a:lvl1pPr algn="r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algn="r" indent="0" lvl="1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algn="r" indent="0" lvl="2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algn="r" indent="0" lvl="3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algn="r" indent="0" lvl="4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algn="r" indent="0" lvl="5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algn="r" indent="0" lvl="6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algn="r" indent="0" lvl="7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algn="r" indent="0" lvl="8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cap="none" sz="1800" i="0" strike="noStrike" u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hlink="hlink" folHlink="folHlink"/>
  <p:sldLayoutIdLst>
    <p:sldLayoutId id="2147483649" r:id="rId1"/>
    <p:sldLayoutId id="2147483650" r:id="rId2"/>
    <p:sldLayoutId id="2147483651" r:id="rId3"/>
  </p:sldLayoutIdLst>
  <p:hf dt="0" ftr="0" hdr="0" sldNum="0"/>
  <p:txStyles>
    <p:title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algn="l" lvl="0" marR="0" rtl="0">
        <a:lnSpc>
          <a:spcPct val="100000"/>
        </a:lnSpc>
        <a:spcBef>
          <a:spcPts val="0"/>
        </a:spcBef>
        <a:spcAft>
          <a:spcPts val="0"/>
        </a:spcAft>
      </a:defPPr>
      <a:lvl1pPr algn="l" lvl="0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algn="l" lvl="1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algn="l" lvl="2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algn="l" lvl="3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algn="l" lvl="4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algn="l" lvl="5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algn="l" lvl="6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algn="l" lvl="7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algn="l" lvl="8" marR="0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cap="none" sz="1400" i="0" strike="noStrike" u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object 2"/>
          <p:cNvSpPr txBox="1">
            <a:spLocks noGrp="1"/>
          </p:cNvSpPr>
          <p:nvPr>
            <p:ph type="title"/>
          </p:nvPr>
        </p:nvSpPr>
        <p:spPr>
          <a:xfrm>
            <a:off x="3995607" y="1664052"/>
            <a:ext cx="7593642" cy="1346200"/>
          </a:xfrm>
          <a:prstGeom prst="rect"/>
        </p:spPr>
        <p:txBody>
          <a:bodyPr bIns="0" lIns="0" rIns="0" rtlCol="0" tIns="12700" vert="horz" wrap="square">
            <a:spAutoFit/>
          </a:bodyPr>
          <a:p>
            <a:pPr algn="ctr" marR="5080">
              <a:lnSpc>
                <a:spcPct val="100000"/>
              </a:lnSpc>
              <a:spcBef>
                <a:spcPts val="100"/>
              </a:spcBef>
            </a:pPr>
            <a:r>
              <a:rPr dirty="0" sz="2000" lang="en-IN" spc="-5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UE23AM342BA3 : Explainable AI</a:t>
            </a:r>
            <a:br>
              <a:rPr dirty="0" sz="2000" lang="en-IN" spc="-5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 sz="2000" lang="en-IN" spc="-5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dirty="0" sz="2000" lang="en-IN" spc="-5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dirty="0" sz="2800" lang="en-US" spc="-5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Banana Problem – Unit 3</a:t>
            </a:r>
            <a:endParaRPr dirty="0" sz="2800" lang="en-IN" spc="-5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7" name="object 3"/>
          <p:cNvSpPr txBox="1"/>
          <p:nvPr/>
        </p:nvSpPr>
        <p:spPr>
          <a:xfrm>
            <a:off x="3995606" y="4596348"/>
            <a:ext cx="8196393" cy="1450976"/>
          </a:xfrm>
          <a:prstGeom prst="rect"/>
        </p:spPr>
        <p:txBody>
          <a:bodyPr bIns="0" lIns="0" rIns="0" rtlCol="0" tIns="40005" vert="horz" wrap="square">
            <a:spAutoFit/>
          </a:bodyPr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b="1" dirty="0" sz="2800" lang="en-US" spc="-5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</a:t>
            </a:r>
            <a:r>
              <a:rPr b="1" dirty="0" sz="2800" lang="en-US" spc="-5" err="1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Prof.Ayisha</a:t>
            </a:r>
            <a:r>
              <a:rPr b="1" dirty="0" sz="2800" lang="en-US" spc="-5">
                <a:solidFill>
                  <a:srgbClr val="0070C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Noori V K </a:t>
            </a:r>
          </a:p>
          <a:p>
            <a:pPr algn="ctr">
              <a:lnSpc>
                <a:spcPct val="100000"/>
              </a:lnSpc>
              <a:spcBef>
                <a:spcPts val="210"/>
              </a:spcBef>
            </a:pPr>
            <a:r>
              <a:rPr dirty="0" sz="3200" spc="-5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dirty="0" sz="3200" spc="5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3200" spc="-5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dirty="0" sz="320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3200" spc="-1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dirty="0" sz="3200" spc="1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3200" spc="-5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Science</a:t>
            </a:r>
            <a:r>
              <a:rPr dirty="0" sz="3200" spc="-2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3200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dirty="0" sz="3200" spc="5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dirty="0" sz="3200" spc="-5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dirty="0" sz="3200" lang="en-IN" spc="-5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(AI&amp;ML)</a:t>
            </a:r>
            <a:endParaRPr dirty="0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8" name="object 4"/>
          <p:cNvSpPr/>
          <p:nvPr/>
        </p:nvSpPr>
        <p:spPr>
          <a:xfrm>
            <a:off x="313842" y="5489702"/>
            <a:ext cx="1067435" cy="1078230"/>
          </a:xfrm>
          <a:custGeom>
            <a:avLst/>
            <a:ahLst/>
            <a:rect l="l" t="t" r="r" b="b"/>
            <a:pathLst>
              <a:path w="1067435" h="1078229">
                <a:moveTo>
                  <a:pt x="1066888" y="1032446"/>
                </a:moveTo>
                <a:lnTo>
                  <a:pt x="45707" y="1032446"/>
                </a:lnTo>
                <a:lnTo>
                  <a:pt x="45707" y="0"/>
                </a:lnTo>
                <a:lnTo>
                  <a:pt x="0" y="0"/>
                </a:lnTo>
                <a:lnTo>
                  <a:pt x="0" y="1032446"/>
                </a:lnTo>
                <a:lnTo>
                  <a:pt x="0" y="1066888"/>
                </a:lnTo>
                <a:lnTo>
                  <a:pt x="0" y="1078153"/>
                </a:lnTo>
                <a:lnTo>
                  <a:pt x="1066888" y="1078153"/>
                </a:lnTo>
                <a:lnTo>
                  <a:pt x="1066888" y="1032446"/>
                </a:lnTo>
                <a:close/>
              </a:path>
            </a:pathLst>
          </a:custGeom>
          <a:solidFill>
            <a:srgbClr val="C55A11"/>
          </a:solidFill>
        </p:spPr>
        <p:txBody>
          <a:bodyPr bIns="0" lIns="0" rIns="0" rtlCol="0" tIns="0" wrap="square"/>
          <a:p/>
        </p:txBody>
      </p:sp>
      <p:sp>
        <p:nvSpPr>
          <p:cNvPr id="1048589" name="object 5"/>
          <p:cNvSpPr/>
          <p:nvPr/>
        </p:nvSpPr>
        <p:spPr>
          <a:xfrm>
            <a:off x="5791200" y="3864020"/>
            <a:ext cx="4581525" cy="0"/>
          </a:xfrm>
          <a:custGeom>
            <a:avLst/>
            <a:ahLst/>
            <a:rect l="l" t="t" r="r" b="b"/>
            <a:pathLst>
              <a:path w="4581525">
                <a:moveTo>
                  <a:pt x="0" y="0"/>
                </a:moveTo>
                <a:lnTo>
                  <a:pt x="4581398" y="0"/>
                </a:lnTo>
              </a:path>
            </a:pathLst>
          </a:custGeom>
          <a:ln w="38100">
            <a:solidFill>
              <a:srgbClr val="C55A11"/>
            </a:solidFill>
          </a:ln>
        </p:spPr>
        <p:txBody>
          <a:bodyPr bIns="0" lIns="0" rIns="0" rtlCol="0" tIns="0" wrap="square"/>
          <a:p/>
        </p:txBody>
      </p:sp>
      <p:pic>
        <p:nvPicPr>
          <p:cNvPr id="2097152" name="object 6"/>
          <p:cNvPicPr>
            <a:picLocks/>
          </p:cNvPicPr>
          <p:nvPr/>
        </p:nvPicPr>
        <p:blipFill>
          <a:blip xmlns:r="http://schemas.openxmlformats.org/officeDocument/2006/relationships" r:embed="rId1" cstate="print"/>
          <a:stretch>
            <a:fillRect/>
          </a:stretch>
        </p:blipFill>
        <p:spPr>
          <a:xfrm>
            <a:off x="1745742" y="1606296"/>
            <a:ext cx="2369185" cy="3550157"/>
          </a:xfrm>
          <a:prstGeom prst="rect"/>
        </p:spPr>
      </p:pic>
      <p:sp>
        <p:nvSpPr>
          <p:cNvPr id="1048590" name="object 7"/>
          <p:cNvSpPr/>
          <p:nvPr/>
        </p:nvSpPr>
        <p:spPr>
          <a:xfrm>
            <a:off x="10855706" y="266077"/>
            <a:ext cx="1067435" cy="1078230"/>
          </a:xfrm>
          <a:custGeom>
            <a:avLst/>
            <a:ahLst/>
            <a:rect l="l" t="t" r="r" b="b"/>
            <a:pathLst>
              <a:path w="1067434" h="1078230">
                <a:moveTo>
                  <a:pt x="1066914" y="11201"/>
                </a:moveTo>
                <a:lnTo>
                  <a:pt x="1066888" y="0"/>
                </a:lnTo>
                <a:lnTo>
                  <a:pt x="0" y="0"/>
                </a:lnTo>
                <a:lnTo>
                  <a:pt x="0" y="45707"/>
                </a:lnTo>
                <a:lnTo>
                  <a:pt x="1021207" y="45707"/>
                </a:lnTo>
                <a:lnTo>
                  <a:pt x="1021207" y="1078090"/>
                </a:lnTo>
                <a:lnTo>
                  <a:pt x="1066914" y="1078090"/>
                </a:lnTo>
                <a:lnTo>
                  <a:pt x="1066914" y="11201"/>
                </a:lnTo>
                <a:close/>
              </a:path>
            </a:pathLst>
          </a:custGeom>
          <a:solidFill>
            <a:srgbClr val="C55A11"/>
          </a:solidFill>
        </p:spPr>
        <p:txBody>
          <a:bodyPr bIns="0" lIns="0" rIns="0" rtlCol="0" tIns="0" wrap="square"/>
          <a:p/>
        </p:txBody>
      </p:sp>
      <p:sp>
        <p:nvSpPr>
          <p:cNvPr id="1048591" name="object 2"/>
          <p:cNvSpPr txBox="1"/>
          <p:nvPr/>
        </p:nvSpPr>
        <p:spPr>
          <a:xfrm>
            <a:off x="6011399" y="1316473"/>
            <a:ext cx="3810000" cy="289823"/>
          </a:xfrm>
          <a:prstGeom prst="rect"/>
        </p:spPr>
        <p:txBody>
          <a:bodyPr bIns="0" lIns="0" rIns="0" rtlCol="0" tIns="12700" vert="horz" wrap="square">
            <a:spAutoFit/>
          </a:bodyPr>
          <a:lstStyle>
            <a:lvl1pPr>
              <a:defRPr b="1" sz="3600" i="0">
                <a:solidFill>
                  <a:srgbClr val="FF0000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 indent="-716280" marL="728980" marR="5080">
              <a:spcBef>
                <a:spcPts val="100"/>
              </a:spcBef>
            </a:pPr>
            <a:r>
              <a:rPr dirty="0" sz="1800" kern="0" lang="en-IN" spc="-5">
                <a:latin typeface="Times New Roman" panose="02020603050405020304" pitchFamily="18" charset="0"/>
                <a:cs typeface="Times New Roman" panose="02020603050405020304" pitchFamily="18" charset="0"/>
              </a:rPr>
              <a:t>Elective - III</a:t>
            </a:r>
            <a:endParaRPr dirty="0" sz="1800" kern="0" lang="en-IN" spc="-1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3" name="Picture 9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38352" y="1051179"/>
            <a:ext cx="3076575" cy="4200525"/>
          </a:xfrm>
          <a:prstGeom prst="rect"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439938" y="660875"/>
            <a:ext cx="4447540" cy="615553"/>
          </a:xfrm>
        </p:spPr>
        <p:txBody>
          <a:bodyPr/>
          <a:p>
            <a:r>
              <a:rPr dirty="0" sz="4000" lang="en-IN" spc="-15">
                <a:solidFill>
                  <a:srgbClr val="6F2F9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Contents:</a:t>
            </a:r>
            <a:endParaRPr dirty="0" sz="4000" lang="en-IN"/>
          </a:p>
        </p:txBody>
      </p:sp>
      <p:sp>
        <p:nvSpPr>
          <p:cNvPr id="1048596" name="Text Placeholder 2"/>
          <p:cNvSpPr>
            <a:spLocks noGrp="1"/>
          </p:cNvSpPr>
          <p:nvPr>
            <p:ph type="body" idx="1"/>
          </p:nvPr>
        </p:nvSpPr>
        <p:spPr>
          <a:xfrm>
            <a:off x="556895" y="2257585"/>
            <a:ext cx="6113900" cy="3200400"/>
          </a:xfrm>
        </p:spPr>
        <p:txBody>
          <a:bodyPr/>
          <a:p>
            <a:pPr indent="-285750" marL="514350">
              <a:buFont typeface="Arial" panose="020B0604020202020204" pitchFamily="34" charset="0"/>
              <a:buChar char="•"/>
            </a:pPr>
            <a:r>
              <a:rPr dirty="0" sz="36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Banana Problem Statement</a:t>
            </a:r>
          </a:p>
          <a:p>
            <a:pPr indent="-285750" marL="514350">
              <a:buFont typeface="Arial" panose="020B0604020202020204" pitchFamily="34" charset="0"/>
              <a:buChar char="•"/>
            </a:pPr>
            <a:endParaRPr dirty="0" sz="3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marL="228600"/>
            <a:endParaRPr dirty="0" sz="3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5750" marL="514350">
              <a:buFont typeface="Arial" panose="020B0604020202020204" pitchFamily="34" charset="0"/>
              <a:buChar char="•"/>
            </a:pPr>
            <a:r>
              <a:rPr dirty="0" sz="36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Submission Link</a:t>
            </a:r>
          </a:p>
          <a:p>
            <a:pPr indent="-285750" marL="514350">
              <a:buFont typeface="Arial" panose="020B0604020202020204" pitchFamily="34" charset="0"/>
              <a:buChar char="•"/>
            </a:pPr>
            <a:endParaRPr dirty="0" sz="3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4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033275" y="178118"/>
            <a:ext cx="917401" cy="1147399"/>
          </a:xfrm>
          <a:prstGeom prst="rect"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object 3"/>
          <p:cNvSpPr txBox="1">
            <a:spLocks noGrp="1"/>
          </p:cNvSpPr>
          <p:nvPr>
            <p:ph type="title"/>
          </p:nvPr>
        </p:nvSpPr>
        <p:spPr>
          <a:xfrm>
            <a:off x="104678" y="186536"/>
            <a:ext cx="10804327" cy="517449"/>
          </a:xfrm>
          <a:prstGeom prst="rect"/>
        </p:spPr>
        <p:txBody>
          <a:bodyPr bIns="0" lIns="0" rIns="0" rtlCol="0" tIns="12065" vert="horz" wrap="square">
            <a:spAutoFit/>
          </a:bodyPr>
          <a:p>
            <a:pPr marL="12700">
              <a:spcBef>
                <a:spcPts val="95"/>
              </a:spcBef>
            </a:pPr>
            <a:r>
              <a:rPr dirty="0" sz="3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Banana Problem –Unit3  Individual Activity (10 Marks)</a:t>
            </a:r>
            <a:endParaRPr dirty="0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5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126912" y="186536"/>
            <a:ext cx="863460" cy="889328"/>
          </a:xfrm>
          <a:prstGeom prst="rect"/>
        </p:spPr>
      </p:pic>
      <p:sp>
        <p:nvSpPr>
          <p:cNvPr id="1048598" name="TextBox 7"/>
          <p:cNvSpPr txBox="1"/>
          <p:nvPr/>
        </p:nvSpPr>
        <p:spPr>
          <a:xfrm>
            <a:off x="274834" y="1685904"/>
            <a:ext cx="5278473" cy="4447541"/>
          </a:xfrm>
          <a:prstGeom prst="rect"/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p>
            <a:pPr algn="just" marL="12066">
              <a:spcBef>
                <a:spcPts val="100"/>
              </a:spcBef>
              <a:tabLst>
                <a:tab algn="l" pos="457200"/>
                <a:tab algn="l" pos="457834"/>
              </a:tabLst>
            </a:pPr>
            <a:r>
              <a:rPr b="1" dirty="0" sz="2400"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1: Vanilla Gradient Saliency Map for Banana Classification</a:t>
            </a:r>
          </a:p>
          <a:p>
            <a:pPr algn="just" marL="12066">
              <a:spcBef>
                <a:spcPts val="100"/>
              </a:spcBef>
              <a:tabLst>
                <a:tab algn="l" pos="457200"/>
                <a:tab algn="l" pos="457834"/>
              </a:tabLst>
            </a:pPr>
            <a:r>
              <a:rPr dirty="0" sz="2400"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 a pretrained CNN (e.g., ResNet18) trained on ImageNet.</a:t>
            </a:r>
          </a:p>
          <a:p>
            <a:pPr algn="just" indent="-457200" marL="469266">
              <a:spcBef>
                <a:spcPts val="100"/>
              </a:spcBef>
              <a:buFont typeface="+mj-lt"/>
              <a:buAutoNum type="arabicPeriod"/>
              <a:tabLst>
                <a:tab algn="l" pos="457200"/>
                <a:tab algn="l" pos="457834"/>
              </a:tabLst>
            </a:pPr>
            <a:endParaRPr dirty="0" sz="2400" lang="en-US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marL="12066">
              <a:spcBef>
                <a:spcPts val="100"/>
              </a:spcBef>
              <a:tabLst>
                <a:tab algn="l" pos="457200"/>
                <a:tab algn="l" pos="457834"/>
              </a:tabLst>
            </a:pPr>
            <a:r>
              <a:rPr dirty="0" sz="2400"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	Load an image of a banana.</a:t>
            </a:r>
          </a:p>
          <a:p>
            <a:pPr algn="just" marL="12066">
              <a:spcBef>
                <a:spcPts val="100"/>
              </a:spcBef>
              <a:tabLst>
                <a:tab algn="l" pos="457200"/>
                <a:tab algn="l" pos="457834"/>
              </a:tabLst>
            </a:pPr>
            <a:r>
              <a:rPr dirty="0" sz="2400"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	Compute the Vanilla Gradient saliency map for the banana class.</a:t>
            </a:r>
          </a:p>
          <a:p>
            <a:pPr algn="just" marL="12066">
              <a:spcBef>
                <a:spcPts val="100"/>
              </a:spcBef>
              <a:tabLst>
                <a:tab algn="l" pos="457200"/>
                <a:tab algn="l" pos="457834"/>
              </a:tabLst>
            </a:pPr>
            <a:r>
              <a:rPr dirty="0" sz="2400"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	Visualize the saliency map.</a:t>
            </a:r>
          </a:p>
          <a:p>
            <a:pPr algn="just" marL="12066">
              <a:spcBef>
                <a:spcPts val="100"/>
              </a:spcBef>
              <a:tabLst>
                <a:tab algn="l" pos="457200"/>
                <a:tab algn="l" pos="457834"/>
              </a:tabLst>
            </a:pPr>
            <a:r>
              <a:rPr dirty="0" sz="2400"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	Comment on whether edges or object regions are highlighted.</a:t>
            </a:r>
          </a:p>
          <a:p>
            <a:pPr algn="just" marL="12066">
              <a:spcBef>
                <a:spcPts val="100"/>
              </a:spcBef>
              <a:tabLst>
                <a:tab algn="l" pos="457200"/>
                <a:tab algn="l" pos="457834"/>
              </a:tabLst>
            </a:pPr>
            <a:endParaRPr dirty="0" sz="2400" lang="en-US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9" name="TextBox 4"/>
          <p:cNvSpPr txBox="1"/>
          <p:nvPr/>
        </p:nvSpPr>
        <p:spPr>
          <a:xfrm>
            <a:off x="393080" y="1067803"/>
            <a:ext cx="7267807" cy="646331"/>
          </a:xfrm>
          <a:prstGeom prst="rect"/>
          <a:noFill/>
        </p:spPr>
        <p:txBody>
          <a:bodyPr wrap="square">
            <a:spAutoFit/>
          </a:bodyPr>
          <a:p>
            <a:r>
              <a:rPr b="1" dirty="0" sz="2400" lang="en-US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Complete Task 1 and Task 2 (For odd SRNs): </a:t>
            </a:r>
          </a:p>
          <a:p>
            <a:endParaRPr b="1"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0" name="TextBox 9"/>
          <p:cNvSpPr txBox="1"/>
          <p:nvPr/>
        </p:nvSpPr>
        <p:spPr>
          <a:xfrm>
            <a:off x="5829324" y="1831730"/>
            <a:ext cx="6161048" cy="3825240"/>
          </a:xfrm>
          <a:prstGeom prst="rect"/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p>
            <a:r>
              <a:rPr b="1" dirty="0" sz="2400"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2 : Smooth Visualization via Activation Maximization </a:t>
            </a:r>
          </a:p>
          <a:p>
            <a:endParaRPr b="1" dirty="0" sz="2400"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z="240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a synthetic image that maximally activates the banana class neuron in ResNet18 using gradient ascent.</a:t>
            </a:r>
          </a:p>
          <a:p>
            <a:pPr indent="-457200" marL="457200">
              <a:buAutoNum type="arabicPeriod"/>
            </a:pPr>
            <a:r>
              <a:rPr dirty="0" sz="240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Start from random noise.</a:t>
            </a:r>
          </a:p>
          <a:p>
            <a:pPr indent="-457200" marL="457200">
              <a:buAutoNum type="arabicPeriod"/>
            </a:pPr>
            <a:r>
              <a:rPr dirty="0" sz="240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 input to maximize banana class score.</a:t>
            </a:r>
          </a:p>
          <a:p>
            <a:pPr indent="-457200" marL="457200">
              <a:buAutoNum type="arabicPeriod"/>
            </a:pPr>
            <a:r>
              <a:rPr dirty="0" sz="240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 the generated pattern.</a:t>
            </a:r>
          </a:p>
          <a:p>
            <a:endParaRPr b="1"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ext 0"/>
          <p:cNvSpPr/>
          <p:nvPr/>
        </p:nvSpPr>
        <p:spPr>
          <a:xfrm>
            <a:off x="388690" y="1214462"/>
            <a:ext cx="3386733" cy="310555"/>
          </a:xfrm>
          <a:prstGeom prst="rect"/>
          <a:noFill/>
        </p:spPr>
        <p:txBody>
          <a:bodyPr anchor="t" bIns="0" lIns="0" rIns="0" rtlCol="0" tIns="0" wrap="none"/>
          <a:p>
            <a:pPr>
              <a:lnSpc>
                <a:spcPts val="2417"/>
              </a:lnSpc>
            </a:pPr>
            <a:r>
              <a:rPr b="1" dirty="0" sz="3600" lang="en-IN" u="sng">
                <a:solidFill>
                  <a:srgbClr val="2E539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Expected Interpretation:</a:t>
            </a:r>
            <a:endParaRPr b="1" dirty="0" sz="3600" lang="en-US" u="sng">
              <a:solidFill>
                <a:srgbClr val="2E539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048603" name="Rectangle 15"/>
          <p:cNvSpPr/>
          <p:nvPr/>
        </p:nvSpPr>
        <p:spPr>
          <a:xfrm>
            <a:off x="10583334" y="6392334"/>
            <a:ext cx="1552223" cy="423333"/>
          </a:xfrm>
          <a:prstGeom prst="rect"/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38100" compatLnSpc="1" forceAA="0" fromWordArt="0" horzOverflow="overflow" lIns="76200" numCol="1" rIns="76200" rot="0" rtlCol="0" spcCol="0" spcFirstLastPara="0" tIns="38100" vert="horz" vertOverflow="overflow" wrap="square">
            <a:prstTxWarp prst="textNoShape"/>
            <a:noAutofit/>
          </a:bodyPr>
          <a:p>
            <a:pPr algn="ctr"/>
            <a:endParaRPr sz="1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Picture 2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978445" y="42333"/>
            <a:ext cx="1143000" cy="1448490"/>
          </a:xfrm>
          <a:prstGeom prst="rect"/>
        </p:spPr>
      </p:pic>
      <p:sp>
        <p:nvSpPr>
          <p:cNvPr id="1048604" name="TextBox 2"/>
          <p:cNvSpPr txBox="1"/>
          <p:nvPr/>
        </p:nvSpPr>
        <p:spPr>
          <a:xfrm>
            <a:off x="1734304" y="4543478"/>
            <a:ext cx="9869755" cy="8026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dirty="0" sz="2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5" name="Rectangle 4"/>
          <p:cNvSpPr>
            <a:spLocks noChangeArrowheads="1"/>
          </p:cNvSpPr>
          <p:nvPr/>
        </p:nvSpPr>
        <p:spPr bwMode="auto">
          <a:xfrm>
            <a:off x="388690" y="2267096"/>
            <a:ext cx="5743297" cy="18694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none">
            <a:prstTxWarp prst="textNoShape"/>
            <a:spAutoFit/>
          </a:bodyPr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b="1"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Task 1: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b="1" dirty="0" sz="2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 indent="-457200" marL="45720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Mostly highlights edges and contours</a:t>
            </a:r>
          </a:p>
          <a:p>
            <a:pPr eaLnBrk="0" fontAlgn="base" hangingPunct="0" indent="-457200" marL="45720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Often noisy due to gradient saturation</a:t>
            </a:r>
          </a:p>
          <a:p>
            <a:pPr eaLnBrk="0" fontAlgn="base" hangingPunct="0" indent="-457200" marL="45720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Background edges may also appear</a:t>
            </a:r>
          </a:p>
        </p:txBody>
      </p:sp>
      <p:sp>
        <p:nvSpPr>
          <p:cNvPr id="1048606" name="TextBox 4"/>
          <p:cNvSpPr txBox="1"/>
          <p:nvPr/>
        </p:nvSpPr>
        <p:spPr>
          <a:xfrm>
            <a:off x="6280925" y="2232320"/>
            <a:ext cx="6094140" cy="1869440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Task 2: </a:t>
            </a:r>
          </a:p>
          <a:p>
            <a:pPr>
              <a:buNone/>
            </a:pPr>
            <a:endParaRPr b="1" dirty="0" sz="2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marL="457200">
              <a:buFont typeface="+mj-lt"/>
              <a:buAutoNum type="arabicPeriod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Generates yellow curved textures</a:t>
            </a:r>
          </a:p>
          <a:p>
            <a:pPr indent="-457200" marL="457200">
              <a:buFont typeface="+mj-lt"/>
              <a:buAutoNum type="arabicPeriod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Shows texture bias of CNN</a:t>
            </a:r>
          </a:p>
          <a:p>
            <a:pPr indent="-457200" marL="457200">
              <a:buFont typeface="+mj-lt"/>
              <a:buAutoNum type="arabicPeriod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May look noisy without regularization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object 3"/>
          <p:cNvSpPr txBox="1">
            <a:spLocks noGrp="1"/>
          </p:cNvSpPr>
          <p:nvPr>
            <p:ph type="title"/>
          </p:nvPr>
        </p:nvSpPr>
        <p:spPr>
          <a:xfrm>
            <a:off x="104678" y="186536"/>
            <a:ext cx="10804327" cy="517449"/>
          </a:xfrm>
          <a:prstGeom prst="rect"/>
        </p:spPr>
        <p:txBody>
          <a:bodyPr bIns="0" lIns="0" rIns="0" rtlCol="0" tIns="12065" vert="horz" wrap="square">
            <a:spAutoFit/>
          </a:bodyPr>
          <a:p>
            <a:pPr marL="12700">
              <a:spcBef>
                <a:spcPts val="95"/>
              </a:spcBef>
            </a:pPr>
            <a:r>
              <a:rPr dirty="0" sz="32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Banana Problem –Unit3  Individual Activity (10 Marks)</a:t>
            </a:r>
            <a:endParaRPr dirty="0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9" name="Picture 3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126912" y="186536"/>
            <a:ext cx="863460" cy="889328"/>
          </a:xfrm>
          <a:prstGeom prst="rect"/>
        </p:spPr>
      </p:pic>
      <p:sp>
        <p:nvSpPr>
          <p:cNvPr id="1048611" name="TextBox 7"/>
          <p:cNvSpPr txBox="1"/>
          <p:nvPr/>
        </p:nvSpPr>
        <p:spPr>
          <a:xfrm>
            <a:off x="274834" y="1685904"/>
            <a:ext cx="5278473" cy="4447541"/>
          </a:xfrm>
          <a:prstGeom prst="rect"/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p>
            <a:pPr algn="just" marL="12066">
              <a:spcBef>
                <a:spcPts val="100"/>
              </a:spcBef>
              <a:tabLst>
                <a:tab algn="l" pos="457200"/>
                <a:tab algn="l" pos="457834"/>
              </a:tabLst>
            </a:pPr>
            <a:r>
              <a:rPr b="1" dirty="0" sz="2400"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3: Network Dissection on Banana Feature Maps</a:t>
            </a:r>
          </a:p>
          <a:p>
            <a:pPr algn="just" marL="12066">
              <a:spcBef>
                <a:spcPts val="100"/>
              </a:spcBef>
              <a:tabLst>
                <a:tab algn="l" pos="457200"/>
                <a:tab algn="l" pos="457834"/>
              </a:tabLst>
            </a:pPr>
            <a:r>
              <a:rPr dirty="0" sz="2400"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 a pretrained CNN (e.g., ResNet18) trained on ImageNet.</a:t>
            </a:r>
          </a:p>
          <a:p>
            <a:pPr algn="just" indent="-457200" marL="469266">
              <a:spcBef>
                <a:spcPts val="100"/>
              </a:spcBef>
              <a:buFont typeface="+mj-lt"/>
              <a:buAutoNum type="arabicPeriod"/>
              <a:tabLst>
                <a:tab algn="l" pos="457200"/>
                <a:tab algn="l" pos="457834"/>
              </a:tabLst>
            </a:pPr>
            <a:endParaRPr dirty="0" sz="2400" lang="en-US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indent="-457200" marL="469266">
              <a:spcBef>
                <a:spcPts val="100"/>
              </a:spcBef>
              <a:buAutoNum type="arabicPeriod"/>
              <a:tabLst>
                <a:tab algn="l" pos="457200"/>
                <a:tab algn="l" pos="457834"/>
              </a:tabLst>
            </a:pPr>
            <a:r>
              <a:rPr dirty="0" sz="2400"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banana image through ResNet18. </a:t>
            </a:r>
          </a:p>
          <a:p>
            <a:pPr algn="just" indent="-457200" marL="469266">
              <a:spcBef>
                <a:spcPts val="100"/>
              </a:spcBef>
              <a:buAutoNum type="arabicPeriod"/>
              <a:tabLst>
                <a:tab algn="l" pos="457200"/>
                <a:tab algn="l" pos="457834"/>
              </a:tabLst>
            </a:pPr>
            <a:r>
              <a:rPr dirty="0" sz="2400"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feature maps from layer4.</a:t>
            </a:r>
          </a:p>
          <a:p>
            <a:pPr algn="just" indent="-457200" marL="469266">
              <a:spcBef>
                <a:spcPts val="100"/>
              </a:spcBef>
              <a:buAutoNum type="arabicPeriod"/>
              <a:tabLst>
                <a:tab algn="l" pos="457200"/>
                <a:tab algn="l" pos="457834"/>
              </a:tabLst>
            </a:pPr>
            <a:r>
              <a:rPr dirty="0" sz="2400"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which channel has maximum average activation</a:t>
            </a:r>
          </a:p>
          <a:p>
            <a:pPr algn="just" indent="-457200" marL="469266">
              <a:spcBef>
                <a:spcPts val="100"/>
              </a:spcBef>
              <a:buAutoNum type="arabicPeriod"/>
              <a:tabLst>
                <a:tab algn="l" pos="457200"/>
                <a:tab algn="l" pos="457834"/>
              </a:tabLst>
            </a:pPr>
            <a:r>
              <a:rPr dirty="0" sz="2400"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 that feature map.</a:t>
            </a:r>
          </a:p>
          <a:p>
            <a:pPr algn="just" indent="-457200" marL="469266">
              <a:spcBef>
                <a:spcPts val="100"/>
              </a:spcBef>
              <a:buAutoNum type="arabicPeriod"/>
              <a:tabLst>
                <a:tab algn="l" pos="457200"/>
                <a:tab algn="l" pos="457834"/>
              </a:tabLst>
            </a:pPr>
            <a:endParaRPr dirty="0" sz="2400" lang="en-US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2" name="TextBox 4"/>
          <p:cNvSpPr txBox="1"/>
          <p:nvPr/>
        </p:nvSpPr>
        <p:spPr>
          <a:xfrm>
            <a:off x="393081" y="1067803"/>
            <a:ext cx="6161048" cy="980440"/>
          </a:xfrm>
          <a:prstGeom prst="rect"/>
          <a:noFill/>
        </p:spPr>
        <p:txBody>
          <a:bodyPr wrap="square">
            <a:spAutoFit/>
          </a:bodyPr>
          <a:p>
            <a:r>
              <a:rPr b="1" dirty="0" sz="2400" lang="en-US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Task 3 and Task 4 (For </a:t>
            </a:r>
            <a:r>
              <a:rPr b="1" dirty="0" sz="2400" lang="en-US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b="1" dirty="0" sz="2400" lang="en-US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b="1" dirty="0" sz="2400" lang="en-US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b="1" dirty="0" sz="2400" lang="en-US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b="1" dirty="0" sz="2400" lang="en-US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b="1" dirty="0" sz="2400" lang="en-US">
                <a:solidFill>
                  <a:schemeClr val="bg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SRNs): </a:t>
            </a:r>
            <a:endParaRPr altLang="en-US" lang="zh-CN"/>
          </a:p>
          <a:p>
            <a:endParaRPr b="1"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3" name="TextBox 9"/>
          <p:cNvSpPr txBox="1"/>
          <p:nvPr/>
        </p:nvSpPr>
        <p:spPr>
          <a:xfrm>
            <a:off x="5829324" y="1831730"/>
            <a:ext cx="6161048" cy="3291841"/>
          </a:xfrm>
          <a:prstGeom prst="rect"/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p>
            <a:r>
              <a:rPr b="1" dirty="0" sz="2400" lang="en-US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4 : SHAP Explanation for Banana Image</a:t>
            </a:r>
          </a:p>
          <a:p>
            <a:endParaRPr b="1" dirty="0" sz="2400" lang="en-US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 sz="240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SHAP </a:t>
            </a:r>
            <a:r>
              <a:rPr dirty="0" sz="2400" lang="en-US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DeepExplainer</a:t>
            </a:r>
            <a:r>
              <a:rPr dirty="0" sz="240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to:</a:t>
            </a:r>
          </a:p>
          <a:p>
            <a:endParaRPr dirty="0" sz="2400"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marL="457200">
              <a:buAutoNum type="arabicPeriod"/>
            </a:pPr>
            <a:r>
              <a:rPr dirty="0" sz="240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 prediction for banana image.</a:t>
            </a:r>
          </a:p>
          <a:p>
            <a:pPr indent="-457200" marL="457200">
              <a:buAutoNum type="arabicPeriod"/>
            </a:pPr>
            <a:endParaRPr dirty="0" sz="2400" lang="en-US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marL="457200">
              <a:buAutoNum type="arabicPeriod"/>
            </a:pPr>
            <a:r>
              <a:rPr dirty="0" sz="2400" lang="en-US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Visualize positive and negative contributing regions.</a:t>
            </a:r>
            <a:endParaRPr b="1" dirty="0" sz="12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ext 0"/>
          <p:cNvSpPr/>
          <p:nvPr/>
        </p:nvSpPr>
        <p:spPr>
          <a:xfrm>
            <a:off x="388690" y="1214462"/>
            <a:ext cx="3386733" cy="310555"/>
          </a:xfrm>
          <a:prstGeom prst="rect"/>
          <a:noFill/>
        </p:spPr>
        <p:txBody>
          <a:bodyPr anchor="t" bIns="0" lIns="0" rIns="0" rtlCol="0" tIns="0" wrap="none"/>
          <a:p>
            <a:pPr>
              <a:lnSpc>
                <a:spcPts val="2417"/>
              </a:lnSpc>
            </a:pPr>
            <a:r>
              <a:rPr b="1" dirty="0" sz="3600" lang="en-IN" u="sng">
                <a:solidFill>
                  <a:srgbClr val="2E5395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Expected Interpretation:</a:t>
            </a:r>
            <a:endParaRPr b="1" dirty="0" sz="3600" lang="en-US" u="sng">
              <a:solidFill>
                <a:srgbClr val="2E5395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048618" name="Rectangle 15"/>
          <p:cNvSpPr/>
          <p:nvPr/>
        </p:nvSpPr>
        <p:spPr>
          <a:xfrm>
            <a:off x="10583334" y="6392334"/>
            <a:ext cx="1552223" cy="423333"/>
          </a:xfrm>
          <a:prstGeom prst="rect"/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anchorCtr="0" bIns="38100" compatLnSpc="1" forceAA="0" fromWordArt="0" horzOverflow="overflow" lIns="76200" numCol="1" rIns="76200" rot="0" rtlCol="0" spcCol="0" spcFirstLastPara="0" tIns="38100" vert="horz" vertOverflow="overflow" wrap="square">
            <a:prstTxWarp prst="textNoShape"/>
            <a:noAutofit/>
          </a:bodyPr>
          <a:p>
            <a:pPr algn="ctr"/>
            <a:endParaRPr sz="16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0" name="Picture 24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978445" y="42333"/>
            <a:ext cx="1143000" cy="1448490"/>
          </a:xfrm>
          <a:prstGeom prst="rect"/>
        </p:spPr>
      </p:pic>
      <p:sp>
        <p:nvSpPr>
          <p:cNvPr id="1048619" name="TextBox 2"/>
          <p:cNvSpPr txBox="1"/>
          <p:nvPr/>
        </p:nvSpPr>
        <p:spPr>
          <a:xfrm>
            <a:off x="1734304" y="4543478"/>
            <a:ext cx="9869755" cy="802640"/>
          </a:xfrm>
          <a:prstGeom prst="rect"/>
          <a:noFill/>
        </p:spPr>
        <p:txBody>
          <a:bodyPr rtlCol="0" wrap="square">
            <a:spAutoFit/>
          </a:bodyPr>
          <a:p>
            <a:r>
              <a:rPr dirty="0" sz="24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dirty="0" sz="2400"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20" name="Rectangle 4"/>
          <p:cNvSpPr>
            <a:spLocks noChangeArrowheads="1"/>
          </p:cNvSpPr>
          <p:nvPr/>
        </p:nvSpPr>
        <p:spPr bwMode="auto">
          <a:xfrm>
            <a:off x="388690" y="1733696"/>
            <a:ext cx="5365339" cy="2936240"/>
          </a:xfrm>
          <a:prstGeom prst="rect"/>
          <a:noFill/>
          <a:ln>
            <a:noFill/>
          </a:ln>
          <a:effectLst/>
        </p:spPr>
        <p:txBody>
          <a:bodyPr anchor="ctr" anchorCtr="0" bIns="45720" compatLnSpc="1" lIns="91440" numCol="1" rIns="91440" tIns="45720" vert="horz" wrap="square">
            <a:prstTxWarp prst="textNoShape"/>
            <a:spAutoFit/>
          </a:bodyPr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b="1"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Task 3: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b="1" dirty="0" sz="2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 indent="-457200" marL="45720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Some channels respond strongly to curved shapes</a:t>
            </a:r>
          </a:p>
          <a:p>
            <a:pPr eaLnBrk="0" fontAlgn="base" hangingPunct="0" indent="-457200" marL="45720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Others may respond to yellow color</a:t>
            </a:r>
          </a:p>
          <a:p>
            <a:pPr eaLnBrk="0" fontAlgn="base" hangingPunct="0" indent="-457200" marL="45720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rabicPeriod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Helps interpret internal representations</a:t>
            </a:r>
          </a:p>
        </p:txBody>
      </p:sp>
      <p:sp>
        <p:nvSpPr>
          <p:cNvPr id="1048621" name="TextBox 4"/>
          <p:cNvSpPr txBox="1"/>
          <p:nvPr/>
        </p:nvSpPr>
        <p:spPr>
          <a:xfrm>
            <a:off x="6280925" y="2232320"/>
            <a:ext cx="6094140" cy="1869440"/>
          </a:xfrm>
          <a:prstGeom prst="rect"/>
          <a:noFill/>
        </p:spPr>
        <p:txBody>
          <a:bodyPr wrap="square">
            <a:spAutoFit/>
          </a:bodyPr>
          <a:p>
            <a:pPr>
              <a:buNone/>
            </a:pPr>
            <a:r>
              <a:rPr b="1"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Task 4: </a:t>
            </a:r>
          </a:p>
          <a:p>
            <a:pPr>
              <a:buNone/>
            </a:pPr>
            <a:endParaRPr b="1" dirty="0" sz="2400"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marL="457200">
              <a:buFont typeface="+mj-lt"/>
              <a:buAutoNum type="arabicPeriod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 regions → positive contribution</a:t>
            </a:r>
          </a:p>
          <a:p>
            <a:pPr indent="-457200" marL="457200">
              <a:buFont typeface="+mj-lt"/>
              <a:buAutoNum type="arabicPeriod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Blue regions → negative contribution</a:t>
            </a:r>
          </a:p>
          <a:p>
            <a:pPr indent="-457200" marL="457200">
              <a:buFont typeface="+mj-lt"/>
              <a:buAutoNum type="arabicPeriod"/>
            </a:pPr>
            <a:r>
              <a:rPr dirty="0" sz="2400"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More stable than vanilla gradients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5" name="Title 1"/>
          <p:cNvSpPr>
            <a:spLocks noGrp="1"/>
          </p:cNvSpPr>
          <p:nvPr>
            <p:ph type="title"/>
          </p:nvPr>
        </p:nvSpPr>
        <p:spPr>
          <a:xfrm>
            <a:off x="609600" y="754380"/>
            <a:ext cx="4447540" cy="492443"/>
          </a:xfrm>
        </p:spPr>
        <p:txBody>
          <a:bodyPr/>
          <a:p>
            <a:r>
              <a:rPr dirty="0" sz="3200"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Submission Link</a:t>
            </a:r>
          </a:p>
        </p:txBody>
      </p:sp>
      <p:sp>
        <p:nvSpPr>
          <p:cNvPr id="1048626" name="Text Placeholder 2"/>
          <p:cNvSpPr>
            <a:spLocks noGrp="1"/>
          </p:cNvSpPr>
          <p:nvPr>
            <p:ph type="body" idx="1"/>
          </p:nvPr>
        </p:nvSpPr>
        <p:spPr>
          <a:xfrm>
            <a:off x="1715386" y="2991470"/>
            <a:ext cx="10972800" cy="276999"/>
          </a:xfrm>
        </p:spPr>
        <p:txBody>
          <a:bodyPr/>
          <a:p>
            <a:r>
              <a:rPr dirty="0" lang="en-IN"/>
              <a:t>https://forms.gle/anBV6QAur9BkdbTk8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28" name="Google Shape;492;p41"/>
          <p:cNvCxnSpPr>
            <a:cxnSpLocks/>
          </p:cNvCxnSpPr>
          <p:nvPr/>
        </p:nvCxnSpPr>
        <p:spPr>
          <a:xfrm rot="10800000" flipH="1">
            <a:off x="5448168" y="2887307"/>
            <a:ext cx="4581449" cy="1"/>
          </a:xfrm>
          <a:prstGeom prst="straightConnector1"/>
          <a:noFill/>
          <a:ln w="38100" cap="flat" cmpd="sng">
            <a:solidFill>
              <a:srgbClr val="C55A1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32" name="Google Shape;494;p41"/>
          <p:cNvGrpSpPr/>
          <p:nvPr/>
        </p:nvGrpSpPr>
        <p:grpSpPr>
          <a:xfrm>
            <a:off x="313844" y="349466"/>
            <a:ext cx="11518407" cy="6218388"/>
            <a:chOff x="313844" y="349466"/>
            <a:chExt cx="11518407" cy="6218388"/>
          </a:xfrm>
        </p:grpSpPr>
        <p:sp>
          <p:nvSpPr>
            <p:cNvPr id="1048627" name="Google Shape;495;p41"/>
            <p:cNvSpPr/>
            <p:nvPr/>
          </p:nvSpPr>
          <p:spPr>
            <a:xfrm>
              <a:off x="11786532" y="360726"/>
              <a:ext cx="45719" cy="1066895"/>
            </a:xfrm>
            <a:prstGeom prst="rect"/>
            <a:solidFill>
              <a:srgbClr val="C55A11"/>
            </a:solidFill>
            <a:ln>
              <a:noFill/>
            </a:ln>
          </p:spPr>
          <p:txBody>
            <a:bodyPr anchor="ctr" anchorCtr="0" bIns="45700" lIns="91425" rIns="91425" spcFirstLastPara="1" tIns="45700" wrap="square">
              <a:noAutofit/>
            </a:bodyPr>
            <a:p>
              <a:pPr algn="ctr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b="0" cap="none" sz="18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628" name="Google Shape;496;p41"/>
            <p:cNvSpPr/>
            <p:nvPr/>
          </p:nvSpPr>
          <p:spPr>
            <a:xfrm rot="5400000">
              <a:off x="11275944" y="-161122"/>
              <a:ext cx="45719" cy="1066895"/>
            </a:xfrm>
            <a:prstGeom prst="rect"/>
            <a:solidFill>
              <a:srgbClr val="C55A11"/>
            </a:solidFill>
            <a:ln>
              <a:noFill/>
            </a:ln>
          </p:spPr>
          <p:txBody>
            <a:bodyPr anchor="ctr" anchorCtr="0" bIns="45700" lIns="91425" rIns="91425" spcFirstLastPara="1" tIns="45700" wrap="square">
              <a:noAutofit/>
            </a:bodyPr>
            <a:p>
              <a:pPr algn="ctr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b="0" cap="none" sz="18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629" name="Google Shape;497;p41"/>
            <p:cNvSpPr/>
            <p:nvPr/>
          </p:nvSpPr>
          <p:spPr>
            <a:xfrm rot="5400000">
              <a:off x="824432" y="6011547"/>
              <a:ext cx="45719" cy="1066895"/>
            </a:xfrm>
            <a:prstGeom prst="rect"/>
            <a:solidFill>
              <a:srgbClr val="C55A11"/>
            </a:solidFill>
            <a:ln>
              <a:noFill/>
            </a:ln>
          </p:spPr>
          <p:txBody>
            <a:bodyPr anchor="ctr" anchorCtr="0" bIns="45700" lIns="91425" rIns="91425" spcFirstLastPara="1" tIns="45700" wrap="square">
              <a:noAutofit/>
            </a:bodyPr>
            <a:p>
              <a:pPr algn="ctr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b="0" cap="none" sz="18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630" name="Google Shape;498;p41"/>
            <p:cNvSpPr/>
            <p:nvPr/>
          </p:nvSpPr>
          <p:spPr>
            <a:xfrm rot="10800000">
              <a:off x="313844" y="5489699"/>
              <a:ext cx="45719" cy="1066895"/>
            </a:xfrm>
            <a:prstGeom prst="rect"/>
            <a:solidFill>
              <a:srgbClr val="C55A11"/>
            </a:solidFill>
            <a:ln>
              <a:noFill/>
            </a:ln>
          </p:spPr>
          <p:txBody>
            <a:bodyPr anchor="ctr" anchorCtr="0" bIns="45700" lIns="91425" rIns="91425" spcFirstLastPara="1" tIns="45700" wrap="square">
              <a:noAutofit/>
            </a:bodyPr>
            <a:p>
              <a:pPr algn="ctr" indent="0" lvl="0" marL="0" marR="0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b="0" cap="none" sz="1800" i="0" strike="noStrike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097161" name="Google Shape;499;p41" descr="A close up of a logo  Description automatically generated"/>
          <p:cNvPicPr preferRelativeResize="0">
            <a:picLocks/>
          </p:cNvPicPr>
          <p:nvPr/>
        </p:nvPicPr>
        <p:blipFill rotWithShape="1">
          <a:blip xmlns:r="http://schemas.openxmlformats.org/officeDocument/2006/relationships" r:embed="rId1">
            <a:alphaModFix/>
          </a:blip>
          <a:srcRect/>
          <a:stretch>
            <a:fillRect/>
          </a:stretch>
        </p:blipFill>
        <p:spPr>
          <a:xfrm>
            <a:off x="955417" y="1444118"/>
            <a:ext cx="2369218" cy="3550188"/>
          </a:xfrm>
          <a:prstGeom prst="rect"/>
          <a:noFill/>
          <a:ln>
            <a:noFill/>
          </a:ln>
        </p:spPr>
      </p:pic>
      <p:sp>
        <p:nvSpPr>
          <p:cNvPr id="1048631" name="Google Shape;500;p41"/>
          <p:cNvSpPr/>
          <p:nvPr/>
        </p:nvSpPr>
        <p:spPr>
          <a:xfrm>
            <a:off x="5448168" y="2049518"/>
            <a:ext cx="4603806" cy="624800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spAutoFit/>
          </a:bodyPr>
          <a:p>
            <a:pPr algn="l" indent="0" lvl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3600"/>
              <a:buFont typeface="Calibri"/>
              <a:buNone/>
            </a:pPr>
            <a:r>
              <a:rPr b="1" cap="none" sz="3600" i="0" lang="en-US" strike="noStrike" u="none">
                <a:solidFill>
                  <a:srgbClr val="C55A1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cap="none" sz="1800" i="0" strike="noStrike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Bhaskar</dc:creator>
  <cp:lastModifiedBy>Ayisha Noori</cp:lastModifiedBy>
  <dcterms:created xsi:type="dcterms:W3CDTF">2024-03-25T06:26:24Z</dcterms:created>
  <dcterms:modified xsi:type="dcterms:W3CDTF">2026-03-20T05:26:44Z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2024-01-07T00:00:00Z</vt:filetime>
  </property>
  <property fmtid="{D5CDD505-2E9C-101B-9397-08002B2CF9AE}" pid="3" name="Creator">
    <vt:lpwstr>Acrobat PDFMaker 23 for PowerPoint</vt:lpwstr>
  </property>
  <property fmtid="{D5CDD505-2E9C-101B-9397-08002B2CF9AE}" pid="4" name="LastSaved">
    <vt:filetime>2024-03-25T00:00:00Z</vt:filetime>
  </property>
  <property fmtid="{D5CDD505-2E9C-101B-9397-08002B2CF9AE}" pid="5" name="Producer">
    <vt:lpwstr>Adobe PDF Library 23.8.234</vt:lpwstr>
  </property>
  <property fmtid="{D5CDD505-2E9C-101B-9397-08002B2CF9AE}" pid="6" name="ICV">
    <vt:lpwstr>68937507c3ff453aba50ac57e4a945f8</vt:lpwstr>
  </property>
</Properties>
</file>