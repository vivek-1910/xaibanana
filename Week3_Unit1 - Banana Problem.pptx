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301" r:id="rId2"/>
    <p:sldId id="481" r:id="rId3"/>
    <p:sldId id="438" r:id="rId4"/>
    <p:sldId id="499" r:id="rId5"/>
    <p:sldId id="1218" r:id="rId6"/>
    <p:sldId id="300" r:id="rId7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6B85FDB-0CB4-4FA0-B38B-2216F9ADE7BC}">
          <p14:sldIdLst>
            <p14:sldId id="301"/>
            <p14:sldId id="481"/>
            <p14:sldId id="438"/>
            <p14:sldId id="499"/>
            <p14:sldId id="1218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gb4SIh283oUhks24cwKxo1I+zx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748" autoAdjust="0"/>
  </p:normalViewPr>
  <p:slideViewPr>
    <p:cSldViewPr snapToGrid="0">
      <p:cViewPr varScale="1">
        <p:scale>
          <a:sx n="60" d="100"/>
          <a:sy n="60" d="100"/>
        </p:scale>
        <p:origin x="908" y="4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51" Type="http://customschemas.google.com/relationships/presentationmetadata" Target="metadata"/><Relationship Id="rId3" Type="http://schemas.openxmlformats.org/officeDocument/2006/relationships/slide" Target="slides/slide2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52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30E17-7F9D-4367-A68D-CE79035114D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52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E5EAD-42A1-4F82-FB58-C9588AFE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D76EA-070E-D1E7-490D-6BE8098CC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AA186-1D67-5D22-5A12-590E3C38D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C60A5-3DC7-17C7-A6D8-19DCC683C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19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6A16-F3F2-A268-3246-559992A9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97ACE-71BC-A5A4-E532-0E205D8C5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BF90D-F52D-D016-58F3-B5E4CF17D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8F986-63CC-813A-91D3-A2E6F90E38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5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90" name="Google Shape;49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>
            <a:spLocks noGrp="1"/>
          </p:cNvSpPr>
          <p:nvPr>
            <p:ph type="title"/>
          </p:nvPr>
        </p:nvSpPr>
        <p:spPr>
          <a:xfrm>
            <a:off x="471835" y="136265"/>
            <a:ext cx="4447540" cy="101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6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71835" y="136265"/>
            <a:ext cx="4447540" cy="101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5607" y="1664052"/>
            <a:ext cx="7593642" cy="137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lang="en-IN" sz="20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UE23AM342BA3 : Explainable AI</a:t>
            </a:r>
            <a:br>
              <a:rPr lang="en-IN" sz="20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Banana Problem – Unit 1</a:t>
            </a:r>
            <a:endParaRPr lang="en-IN" sz="2800" spc="-5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5606" y="4596348"/>
            <a:ext cx="8196393" cy="1481816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lang="en-US" sz="2800" b="1" spc="-5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800" b="1" spc="-5" dirty="0" err="1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Prof.Ayisha</a:t>
            </a:r>
            <a:r>
              <a:rPr lang="en-US" sz="2800" b="1" spc="-5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Noori V K </a:t>
            </a: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3200" spc="-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3200" spc="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3200" spc="10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3200" spc="-20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IN" sz="3200" spc="-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(AI&amp;ML)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91200" y="3864020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5742" y="1606296"/>
            <a:ext cx="2369185" cy="355015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855706" y="266077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14" y="11201"/>
                </a:moveTo>
                <a:lnTo>
                  <a:pt x="1066888" y="0"/>
                </a:lnTo>
                <a:lnTo>
                  <a:pt x="0" y="0"/>
                </a:lnTo>
                <a:lnTo>
                  <a:pt x="0" y="45707"/>
                </a:lnTo>
                <a:lnTo>
                  <a:pt x="1021207" y="45707"/>
                </a:lnTo>
                <a:lnTo>
                  <a:pt x="1021207" y="1078090"/>
                </a:lnTo>
                <a:lnTo>
                  <a:pt x="1066914" y="1078090"/>
                </a:lnTo>
                <a:lnTo>
                  <a:pt x="1066914" y="11201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FDB5A7EC-ABAE-8BEF-3CC0-F809FBC9BB16}"/>
              </a:ext>
            </a:extLst>
          </p:cNvPr>
          <p:cNvSpPr txBox="1">
            <a:spLocks/>
          </p:cNvSpPr>
          <p:nvPr/>
        </p:nvSpPr>
        <p:spPr>
          <a:xfrm>
            <a:off x="6011399" y="1316473"/>
            <a:ext cx="3810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728980" marR="5080" indent="-716280" algn="ctr">
              <a:spcBef>
                <a:spcPts val="100"/>
              </a:spcBef>
            </a:pPr>
            <a:r>
              <a:rPr lang="en-IN" sz="1800" kern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Elective - III</a:t>
            </a:r>
            <a:endParaRPr lang="en-IN" sz="1800" kern="0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21F43C-CFA1-3BB5-7916-2419080A7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352" y="1051179"/>
            <a:ext cx="3076575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35F5-95CE-8253-FC18-FF14D274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38" y="660875"/>
            <a:ext cx="4447540" cy="615553"/>
          </a:xfrm>
        </p:spPr>
        <p:txBody>
          <a:bodyPr/>
          <a:lstStyle/>
          <a:p>
            <a:r>
              <a:rPr lang="en-IN" sz="4000" spc="-1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DFCD1-6D2A-9056-6B90-D568F05D3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895" y="2257585"/>
            <a:ext cx="6113900" cy="3323987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Banana Problem Statement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Guidelines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Link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99DF3-9BB3-98EB-6C9D-0FEC48CE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275" y="178118"/>
            <a:ext cx="917401" cy="114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1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F556E-5EFE-F15E-851F-18431CC8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B6A7AE1-6568-4D67-B787-C9DC99639D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678" y="186536"/>
            <a:ext cx="10804327" cy="5174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Banana Problem –Unit1  Individual Activity (10 Marks)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4133E-E5DE-E40F-A83A-FE91CB36F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912" y="186536"/>
            <a:ext cx="863460" cy="889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BC91EF-6ED7-ADB3-3E7C-D1F076B0969A}"/>
              </a:ext>
            </a:extLst>
          </p:cNvPr>
          <p:cNvSpPr txBox="1"/>
          <p:nvPr/>
        </p:nvSpPr>
        <p:spPr>
          <a:xfrm>
            <a:off x="274834" y="1685904"/>
            <a:ext cx="11080738" cy="392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Title: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Explaining Disease Risk Prediction using Generalized Additive Models (GAM)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loads the disease_risk.csv dataset, trains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Additive Model (GAM)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disease risk, and explains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model predicted “disease” for a selected patient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Visualize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feature-wise contributions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influencing the prediction.</a:t>
            </a:r>
          </a:p>
          <a:p>
            <a:pPr marL="12066" algn="just">
              <a:spcBef>
                <a:spcPts val="100"/>
              </a:spcBef>
              <a:tabLst>
                <a:tab pos="457200" algn="l"/>
                <a:tab pos="457834" algn="l"/>
              </a:tabLst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45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D69E-A117-9B9B-28DE-3DFE11F4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E6A5EB-7188-37DE-AAB2-47AD2FE4EA56}"/>
              </a:ext>
            </a:extLst>
          </p:cNvPr>
          <p:cNvSpPr/>
          <p:nvPr/>
        </p:nvSpPr>
        <p:spPr>
          <a:xfrm>
            <a:off x="600563" y="424547"/>
            <a:ext cx="3386733" cy="31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IN" sz="2800" b="1" dirty="0">
                <a:solidFill>
                  <a:srgbClr val="2E539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Tasks to be Performed</a:t>
            </a:r>
            <a:endParaRPr lang="en-US" sz="2800" b="1" dirty="0">
              <a:solidFill>
                <a:srgbClr val="2E539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3CFD3-C613-71A5-BA2C-26C5B654B3CE}"/>
              </a:ext>
            </a:extLst>
          </p:cNvPr>
          <p:cNvSpPr/>
          <p:nvPr/>
        </p:nvSpPr>
        <p:spPr>
          <a:xfrm>
            <a:off x="10583334" y="6392334"/>
            <a:ext cx="1552223" cy="4233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EC254B6-773C-9924-AE92-69837644F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459" y="424547"/>
            <a:ext cx="1143000" cy="14484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4304" y="4543478"/>
            <a:ext cx="9869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DCDEA2F-AA3F-5CDB-DA34-D2AB47BCA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25" y="1409420"/>
            <a:ext cx="988604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preprocess the disease_risk.csv dataset.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 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disease prediction.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one test instance for which the model predicts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“disease.”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 the prediction using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intrinsic interpretability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GAM by: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Identifying important contributing features.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Showing whether each feature increases or decreases disease risk.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Feature contribution plot for the selected patient.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(Optional) Global shape plots to understand overall feature behavior.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Provide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 interpretation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explanation in simple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98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D74C-51E6-01D7-B8C1-DCE5B459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69424F-B7B1-23A3-0E71-D92790CB0CC7}"/>
              </a:ext>
            </a:extLst>
          </p:cNvPr>
          <p:cNvSpPr/>
          <p:nvPr/>
        </p:nvSpPr>
        <p:spPr>
          <a:xfrm>
            <a:off x="600563" y="424547"/>
            <a:ext cx="3386733" cy="31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IN" sz="2800" b="1" dirty="0">
                <a:solidFill>
                  <a:srgbClr val="2E539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Expected Output</a:t>
            </a:r>
            <a:endParaRPr lang="en-US" sz="2800" b="1" dirty="0">
              <a:solidFill>
                <a:srgbClr val="2E539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4F01AF-5FA0-3C34-004C-2937033CFDB7}"/>
              </a:ext>
            </a:extLst>
          </p:cNvPr>
          <p:cNvSpPr/>
          <p:nvPr/>
        </p:nvSpPr>
        <p:spPr>
          <a:xfrm>
            <a:off x="10583334" y="6392334"/>
            <a:ext cx="1552223" cy="4233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CEC3994-8022-19FF-2A1A-F0C8F83A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459" y="424547"/>
            <a:ext cx="1143000" cy="14484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384187-8907-A6E4-34F8-D21F1B2CA89B}"/>
              </a:ext>
            </a:extLst>
          </p:cNvPr>
          <p:cNvSpPr txBox="1"/>
          <p:nvPr/>
        </p:nvSpPr>
        <p:spPr>
          <a:xfrm>
            <a:off x="1734304" y="4543478"/>
            <a:ext cx="9869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629F1B-90BC-8ADF-CAD9-941523259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41" y="1595675"/>
            <a:ext cx="66624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GAM  model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contribution visualization for one patient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written explanation of the prediction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45FE86-D770-0A75-15BA-21E21C70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447337"/>
              </p:ext>
            </p:extLst>
          </p:nvPr>
        </p:nvGraphicFramePr>
        <p:xfrm>
          <a:off x="903768" y="3955671"/>
          <a:ext cx="7719237" cy="1524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43344">
                  <a:extLst>
                    <a:ext uri="{9D8B030D-6E8A-4147-A177-3AD203B41FA5}">
                      <a16:colId xmlns:a16="http://schemas.microsoft.com/office/drawing/2014/main" val="1317109551"/>
                    </a:ext>
                  </a:extLst>
                </a:gridCol>
                <a:gridCol w="3875893">
                  <a:extLst>
                    <a:ext uri="{9D8B030D-6E8A-4147-A177-3AD203B41FA5}">
                      <a16:colId xmlns:a16="http://schemas.microsoft.com/office/drawing/2014/main" val="2073974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178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loading and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850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GAM 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763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 of individual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240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 and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36831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9A56BB3-2A84-7205-71D4-59CF558D6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63" y="3197708"/>
            <a:ext cx="291938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Marks Distribution (10 Marks)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5B273-76CA-C7F0-6B21-C354EEB22670}"/>
              </a:ext>
            </a:extLst>
          </p:cNvPr>
          <p:cNvSpPr txBox="1"/>
          <p:nvPr/>
        </p:nvSpPr>
        <p:spPr>
          <a:xfrm>
            <a:off x="1411472" y="5962282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Install required library :         </a:t>
            </a:r>
            <a:r>
              <a:rPr lang="en-IN" b="1" dirty="0">
                <a:solidFill>
                  <a:srgbClr val="FF0000"/>
                </a:solidFill>
              </a:rPr>
              <a:t>pip install </a:t>
            </a:r>
            <a:r>
              <a:rPr lang="en-IN" b="1" dirty="0" err="1">
                <a:solidFill>
                  <a:srgbClr val="FF0000"/>
                </a:solidFill>
              </a:rPr>
              <a:t>pygam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6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2" name="Google Shape;492;p41"/>
          <p:cNvCxnSpPr/>
          <p:nvPr/>
        </p:nvCxnSpPr>
        <p:spPr>
          <a:xfrm rot="10800000" flipH="1">
            <a:off x="5448168" y="2887307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94" name="Google Shape;494;p41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495" name="Google Shape;495;p41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1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9" name="Google Shape;499;p41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417" y="1444118"/>
            <a:ext cx="2369218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1"/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mag</Template>
  <TotalTime>6619</TotalTime>
  <Words>276</Words>
  <Application>Microsoft Office PowerPoint</Application>
  <PresentationFormat>Widescreen</PresentationFormat>
  <Paragraphs>50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UE23AM342BA3 : Explainable AI   Banana Problem – Unit 1</vt:lpstr>
      <vt:lpstr>Contents:</vt:lpstr>
      <vt:lpstr>Banana Problem –Unit1  Individual Activity (10 Marks)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Bhaskar</dc:creator>
  <cp:lastModifiedBy>Ayisha Noori</cp:lastModifiedBy>
  <cp:revision>19</cp:revision>
  <dcterms:created xsi:type="dcterms:W3CDTF">2024-03-25T17:26:24Z</dcterms:created>
  <dcterms:modified xsi:type="dcterms:W3CDTF">2026-01-23T05:58:54Z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2024-01-07T00:00:00Z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2024-03-25T00:00:00Z</vt:filetime>
  </property>
  <property fmtid="{D5CDD505-2E9C-101B-9397-08002B2CF9AE}" pid="5" name="Producer">
    <vt:lpwstr>Adobe PDF Library 23.8.234</vt:lpwstr>
  </property>
</Properties>
</file>